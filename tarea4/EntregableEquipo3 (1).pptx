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6" dt="2026-08-28T20:27:25.092"/>
    <p1510:client id="{4264E9A7-2D2F-7DA5-6D6E-0D6D2ED76541}" v="57" dt="2026-08-28T19:25:39.190"/>
    <p1510:client id="{7D985322-27C8-6824-30C5-EF121D485CA5}" v="2" dt="2026-08-28T21:44:59.820"/>
    <p1510:client id="{CE485AF1-1B99-2AA8-2373-9D5B92C18611}" v="149" dt="2026-08-28T21:53:43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E1554FE-94B9-4A74-EE2D-59776EF6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15600" cy="768280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rgbClr val="333333"/>
                </a:solidFill>
                <a:highlight>
                  <a:srgbClr val="FFFFFF"/>
                </a:highlight>
              </a:rPr>
              <a:t>Soporte a infraestructura y conectividad (hardware/red)</a:t>
            </a:r>
            <a:endParaRPr lang="es-ES" sz="360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203EA6-AB65-C777-C0FF-7B9FF6127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79297"/>
            <a:ext cx="5261211" cy="479488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B0604020202020204" pitchFamily="34" charset="0"/>
              <a:buChar char="-"/>
            </a:pPr>
            <a:r>
              <a:rPr lang="es-MX" sz="2600" b="1">
                <a:solidFill>
                  <a:srgbClr val="333333"/>
                </a:solidFill>
                <a:latin typeface="Aptos"/>
                <a:cs typeface="Arial"/>
              </a:rPr>
              <a:t>Descripción</a:t>
            </a:r>
            <a:r>
              <a:rPr lang="en-US" sz="2600" b="1">
                <a:solidFill>
                  <a:srgbClr val="333333"/>
                </a:solidFill>
                <a:latin typeface="Aptos"/>
                <a:cs typeface="Arial"/>
              </a:rPr>
              <a:t> del </a:t>
            </a:r>
            <a:r>
              <a:rPr lang="en-US" sz="2600" b="1" err="1">
                <a:solidFill>
                  <a:srgbClr val="333333"/>
                </a:solidFill>
                <a:latin typeface="Aptos"/>
                <a:cs typeface="Arial"/>
              </a:rPr>
              <a:t>incidente</a:t>
            </a:r>
            <a:endParaRPr lang="en-US" sz="2600" b="1">
              <a:solidFill>
                <a:srgbClr val="333333"/>
              </a:solidFill>
              <a:latin typeface="Aptos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600">
              <a:solidFill>
                <a:srgbClr val="333333"/>
              </a:solidFill>
              <a:latin typeface="Aptos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600">
              <a:solidFill>
                <a:srgbClr val="333333"/>
              </a:solidFill>
              <a:latin typeface="Aptos"/>
              <a:cs typeface="Arial"/>
            </a:endParaRPr>
          </a:p>
          <a:p>
            <a:pPr marL="0" indent="0">
              <a:buNone/>
            </a:pPr>
            <a:r>
              <a:rPr lang="es-ES" sz="1700">
                <a:latin typeface="Aptos"/>
                <a:cs typeface="Arial"/>
              </a:rPr>
              <a:t>"Sunday </a:t>
            </a:r>
            <a:r>
              <a:rPr lang="es-ES" sz="1700" err="1">
                <a:latin typeface="Aptos"/>
                <a:cs typeface="Arial"/>
              </a:rPr>
              <a:t>Inc</a:t>
            </a:r>
            <a:r>
              <a:rPr lang="es-ES" sz="1700">
                <a:latin typeface="Aptos"/>
                <a:cs typeface="Arial"/>
              </a:rPr>
              <a:t> cuenta con una impresora multifuncional de red ubicada en el área de Administración. La impresora es utilizada por aproximadamente 10 empleados para imprimir documentos internos.</a:t>
            </a:r>
          </a:p>
          <a:p>
            <a:pPr marL="0" indent="0">
              <a:buNone/>
            </a:pPr>
            <a:r>
              <a:rPr lang="es-ES" sz="1700">
                <a:latin typeface="Aptos"/>
                <a:cs typeface="Arial"/>
              </a:rPr>
              <a:t>A las 10:15 a. m., Guadalupe reporta al área de Soporte en TI que no puede imprimir. En su computadora aparece el mensaje:</a:t>
            </a:r>
          </a:p>
          <a:p>
            <a:pPr marL="0" indent="0">
              <a:buNone/>
            </a:pPr>
            <a:r>
              <a:rPr lang="es-ES" sz="1700">
                <a:latin typeface="Aptos"/>
                <a:cs typeface="Arial"/>
              </a:rPr>
              <a:t>"La impresora está sin conexión."</a:t>
            </a:r>
          </a:p>
          <a:p>
            <a:pPr marL="0" indent="0">
              <a:buNone/>
            </a:pPr>
            <a:r>
              <a:rPr lang="es-ES" sz="1700">
                <a:latin typeface="Aptos"/>
                <a:cs typeface="Arial"/>
              </a:rPr>
              <a:t>Guadalupe comenta que anteriormente podía imprimir normalmente y que necesita imprimir un documento durante la mañana."</a:t>
            </a:r>
            <a:br>
              <a:rPr lang="en-US" sz="3000">
                <a:latin typeface="Arial"/>
                <a:cs typeface="Arial"/>
              </a:rPr>
            </a:br>
            <a:endParaRPr lang="en-US" sz="3000">
              <a:latin typeface="Arial"/>
              <a:cs typeface="Arial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7C572A5-C724-B3C2-175E-AFB6ED2AB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708" y="779297"/>
            <a:ext cx="5227092" cy="40486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Calibri" panose="020B0604020202020204" pitchFamily="34" charset="0"/>
              <a:buChar char="-"/>
            </a:pPr>
            <a:r>
              <a:rPr lang="en-US" sz="2600" b="1" err="1">
                <a:solidFill>
                  <a:srgbClr val="333333"/>
                </a:solidFill>
                <a:latin typeface="Aptos"/>
                <a:cs typeface="Arial"/>
              </a:rPr>
              <a:t>Ejemplo</a:t>
            </a:r>
            <a:r>
              <a:rPr lang="en-US" sz="2600" b="1">
                <a:solidFill>
                  <a:srgbClr val="333333"/>
                </a:solidFill>
                <a:latin typeface="Aptos"/>
                <a:cs typeface="Arial"/>
              </a:rPr>
              <a:t> del ticket </a:t>
            </a:r>
            <a:r>
              <a:rPr lang="en-US" sz="2600" b="1" err="1">
                <a:solidFill>
                  <a:srgbClr val="333333"/>
                </a:solidFill>
                <a:latin typeface="Aptos"/>
                <a:cs typeface="Arial"/>
              </a:rPr>
              <a:t>registrado</a:t>
            </a:r>
            <a:endParaRPr lang="es-ES" sz="2600" b="1">
              <a:latin typeface="Aptos"/>
              <a:cs typeface="Arial"/>
            </a:endParaRPr>
          </a:p>
          <a:p>
            <a:pPr>
              <a:buFont typeface="Calibri" panose="020B0604020202020204" pitchFamily="34" charset="0"/>
              <a:buChar char="-"/>
            </a:pPr>
            <a:endParaRPr lang="es-E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878435-6F52-C689-26F0-E4E141CB8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987" y="1182805"/>
            <a:ext cx="4308532" cy="542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1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85E353-F7DC-D443-B767-24BEBA5E8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26730"/>
            <a:ext cx="5238465" cy="50187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>
                <a:solidFill>
                  <a:srgbClr val="333333"/>
                </a:solidFill>
                <a:latin typeface="Aptos"/>
                <a:cs typeface="Arial"/>
              </a:rPr>
              <a:t>- Pasos </a:t>
            </a:r>
            <a:r>
              <a:rPr lang="en-US" sz="2400" b="1" err="1">
                <a:solidFill>
                  <a:srgbClr val="333333"/>
                </a:solidFill>
                <a:latin typeface="Aptos"/>
                <a:cs typeface="Arial"/>
              </a:rPr>
              <a:t>básicos</a:t>
            </a:r>
            <a:r>
              <a:rPr lang="en-US" sz="2400" b="1">
                <a:solidFill>
                  <a:srgbClr val="333333"/>
                </a:solidFill>
                <a:latin typeface="Aptos"/>
                <a:cs typeface="Arial"/>
              </a:rPr>
              <a:t> de </a:t>
            </a:r>
            <a:r>
              <a:rPr lang="en-US" sz="2400" b="1" err="1">
                <a:solidFill>
                  <a:srgbClr val="333333"/>
                </a:solidFill>
                <a:latin typeface="Aptos"/>
                <a:cs typeface="Arial"/>
              </a:rPr>
              <a:t>atención</a:t>
            </a:r>
            <a:endParaRPr lang="es-ES" sz="2400" b="1">
              <a:latin typeface="Aptos"/>
              <a:cs typeface="Arial"/>
            </a:endParaRPr>
          </a:p>
          <a:p>
            <a:pPr>
              <a:buFont typeface="Arial"/>
              <a:buChar char="•"/>
            </a:pPr>
            <a:r>
              <a:rPr lang="es-ES" sz="1600">
                <a:latin typeface="Aptos"/>
                <a:ea typeface="+mn-lt"/>
                <a:cs typeface="Arial"/>
              </a:rPr>
              <a:t>Reporte de problema</a:t>
            </a:r>
            <a:endParaRPr lang="es-ES" sz="1600">
              <a:latin typeface="Aptos"/>
            </a:endParaRPr>
          </a:p>
          <a:p>
            <a:pPr>
              <a:buFont typeface="Arial"/>
              <a:buChar char="•"/>
            </a:pPr>
            <a:r>
              <a:rPr lang="es-ES" sz="1600">
                <a:latin typeface="Aptos"/>
                <a:ea typeface="+mn-lt"/>
                <a:cs typeface="Arial"/>
              </a:rPr>
              <a:t>Recopilación de información (identidad de usuario, departamento, impresora, e IP)</a:t>
            </a:r>
            <a:endParaRPr lang="es-ES" sz="1600">
              <a:latin typeface="Aptos"/>
            </a:endParaRPr>
          </a:p>
          <a:p>
            <a:pPr>
              <a:buFont typeface="Arial"/>
              <a:buChar char="•"/>
            </a:pPr>
            <a:r>
              <a:rPr lang="es-ES" sz="1600">
                <a:latin typeface="Aptos"/>
                <a:ea typeface="+mn-lt"/>
                <a:cs typeface="Arial"/>
              </a:rPr>
              <a:t>Creación de ticket</a:t>
            </a:r>
            <a:endParaRPr lang="es-ES" sz="1600">
              <a:latin typeface="Aptos"/>
            </a:endParaRPr>
          </a:p>
          <a:p>
            <a:pPr>
              <a:buFont typeface="Arial"/>
              <a:buChar char="•"/>
            </a:pPr>
            <a:r>
              <a:rPr lang="es-ES" sz="1600">
                <a:latin typeface="Aptos"/>
                <a:ea typeface="+mn-lt"/>
                <a:cs typeface="Arial"/>
              </a:rPr>
              <a:t>Asignación de prioridad</a:t>
            </a:r>
            <a:endParaRPr lang="es-ES" sz="1600">
              <a:latin typeface="Aptos"/>
            </a:endParaRPr>
          </a:p>
          <a:p>
            <a:pPr>
              <a:buFont typeface="Arial"/>
              <a:buChar char="•"/>
            </a:pPr>
            <a:r>
              <a:rPr lang="es-ES" sz="1600">
                <a:latin typeface="Aptos"/>
                <a:ea typeface="+mn-lt"/>
                <a:cs typeface="Arial"/>
              </a:rPr>
              <a:t>Revisión de hardware y conectividad</a:t>
            </a:r>
            <a:endParaRPr lang="es-ES" sz="1600">
              <a:latin typeface="Aptos"/>
            </a:endParaRPr>
          </a:p>
          <a:p>
            <a:pPr>
              <a:buFont typeface="Arial"/>
              <a:buChar char="•"/>
            </a:pPr>
            <a:r>
              <a:rPr lang="es-ES" sz="1600">
                <a:latin typeface="Aptos"/>
                <a:ea typeface="+mn-lt"/>
                <a:cs typeface="Arial"/>
              </a:rPr>
              <a:t>Determinar problema (red/conectividad)</a:t>
            </a:r>
            <a:endParaRPr lang="es-ES" sz="1600">
              <a:latin typeface="Aptos"/>
            </a:endParaRPr>
          </a:p>
          <a:p>
            <a:pPr>
              <a:buFont typeface="Arial"/>
              <a:buChar char="•"/>
            </a:pPr>
            <a:r>
              <a:rPr lang="es-ES" sz="1600">
                <a:latin typeface="Aptos"/>
                <a:ea typeface="+mn-lt"/>
                <a:cs typeface="Arial"/>
              </a:rPr>
              <a:t>Reiniciar y probar impresora</a:t>
            </a:r>
            <a:endParaRPr lang="es-ES" sz="1600">
              <a:latin typeface="Aptos"/>
            </a:endParaRPr>
          </a:p>
          <a:p>
            <a:pPr>
              <a:buFont typeface="Arial"/>
              <a:buChar char="•"/>
            </a:pPr>
            <a:r>
              <a:rPr lang="es-ES" sz="1600">
                <a:latin typeface="Aptos"/>
                <a:ea typeface="+mn-lt"/>
                <a:cs typeface="Arial"/>
              </a:rPr>
              <a:t>Documentación de solución</a:t>
            </a:r>
            <a:endParaRPr lang="es-ES" sz="1600">
              <a:latin typeface="Aptos"/>
            </a:endParaRPr>
          </a:p>
          <a:p>
            <a:pPr>
              <a:buFont typeface="Arial"/>
              <a:buChar char="•"/>
            </a:pPr>
            <a:r>
              <a:rPr lang="es-ES" sz="1600">
                <a:latin typeface="Aptos"/>
                <a:ea typeface="+mn-lt"/>
                <a:cs typeface="Arial"/>
              </a:rPr>
              <a:t>Asignar estado al ticket</a:t>
            </a:r>
            <a:endParaRPr lang="es-ES" sz="1600">
              <a:latin typeface="Aptos"/>
            </a:endParaRP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AD0EF7-E109-2EAB-B4A2-D665C33B0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86068" y="427943"/>
            <a:ext cx="5481092" cy="41945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400" b="1">
                <a:solidFill>
                  <a:srgbClr val="333333"/>
                </a:solidFill>
                <a:latin typeface="Aptos"/>
                <a:cs typeface="Arial"/>
              </a:rPr>
              <a:t>- Resolución o </a:t>
            </a:r>
            <a:r>
              <a:rPr lang="es-MX" sz="2400" b="1" err="1">
                <a:solidFill>
                  <a:srgbClr val="333333"/>
                </a:solidFill>
                <a:latin typeface="Aptos"/>
                <a:cs typeface="Arial"/>
              </a:rPr>
              <a:t>escalamiento</a:t>
            </a:r>
            <a:endParaRPr lang="es-MX" sz="2400" b="1">
              <a:latin typeface="Aptos"/>
              <a:cs typeface="Arial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Se </a:t>
            </a:r>
            <a:r>
              <a:rPr lang="es-MX" sz="1400" err="1">
                <a:solidFill>
                  <a:srgbClr val="000000"/>
                </a:solidFill>
                <a:latin typeface="Aptos"/>
                <a:cs typeface="Arial"/>
              </a:rPr>
              <a:t>verificó</a:t>
            </a: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 </a:t>
            </a:r>
            <a:r>
              <a:rPr lang="es-MX" sz="1400" err="1">
                <a:solidFill>
                  <a:srgbClr val="000000"/>
                </a:solidFill>
                <a:latin typeface="Aptos"/>
                <a:cs typeface="Arial"/>
              </a:rPr>
              <a:t>que</a:t>
            </a: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 el cable de red </a:t>
            </a:r>
            <a:r>
              <a:rPr lang="es-MX" sz="1400" err="1">
                <a:solidFill>
                  <a:srgbClr val="000000"/>
                </a:solidFill>
                <a:latin typeface="Aptos"/>
                <a:cs typeface="Arial"/>
              </a:rPr>
              <a:t>esté</a:t>
            </a: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 </a:t>
            </a:r>
            <a:r>
              <a:rPr lang="es-MX" sz="1400" err="1">
                <a:solidFill>
                  <a:srgbClr val="000000"/>
                </a:solidFill>
                <a:latin typeface="Aptos"/>
                <a:cs typeface="Arial"/>
              </a:rPr>
              <a:t>correctamente</a:t>
            </a: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 </a:t>
            </a:r>
            <a:r>
              <a:rPr lang="es-MX" sz="1400" err="1">
                <a:solidFill>
                  <a:srgbClr val="000000"/>
                </a:solidFill>
                <a:latin typeface="Aptos"/>
                <a:cs typeface="Arial"/>
              </a:rPr>
              <a:t>conectado</a:t>
            </a: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.</a:t>
            </a:r>
            <a:endParaRPr lang="es-MX" sz="1400">
              <a:solidFill>
                <a:srgbClr val="333333"/>
              </a:solidFill>
              <a:latin typeface="Aptos"/>
              <a:cs typeface="Arial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-MX" sz="1400" err="1">
                <a:solidFill>
                  <a:srgbClr val="000000"/>
                </a:solidFill>
                <a:latin typeface="Aptos"/>
                <a:cs typeface="Arial"/>
              </a:rPr>
              <a:t>Desconectar</a:t>
            </a: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 y </a:t>
            </a:r>
            <a:r>
              <a:rPr lang="es-MX" sz="1400" err="1">
                <a:solidFill>
                  <a:srgbClr val="000000"/>
                </a:solidFill>
                <a:latin typeface="Aptos"/>
                <a:cs typeface="Arial"/>
              </a:rPr>
              <a:t>volver</a:t>
            </a: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 a conectar el cable de red.</a:t>
            </a:r>
            <a:endParaRPr lang="es-MX" sz="1400">
              <a:latin typeface="Aptos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Verificar los indicadores del puerto.</a:t>
            </a:r>
            <a:endParaRPr lang="es-MX" sz="1400">
              <a:latin typeface="Aptos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Reiniciar la impresora.</a:t>
            </a:r>
            <a:endParaRPr lang="es-MX" sz="1400">
              <a:latin typeface="Aptos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Esperar a que termine el proceso de inicialización.</a:t>
            </a:r>
            <a:endParaRPr lang="es-MX" sz="1400">
              <a:latin typeface="Aptos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Volver a comprobar la conectividad.</a:t>
            </a:r>
            <a:endParaRPr lang="es-MX" sz="1400">
              <a:latin typeface="Aptos"/>
            </a:endParaRPr>
          </a:p>
          <a:p>
            <a:pPr>
              <a:buFont typeface="Calibri" panose="020B0604020202020204" pitchFamily="34" charset="0"/>
              <a:buChar char="-"/>
            </a:pPr>
            <a:endParaRPr lang="es-MX" sz="1400">
              <a:solidFill>
                <a:srgbClr val="000000"/>
              </a:solidFill>
              <a:latin typeface="Aptos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A través  de estos resultados podemos concluir que el incidente quedó </a:t>
            </a:r>
            <a:r>
              <a:rPr lang="es-MX" sz="1400" b="1">
                <a:solidFill>
                  <a:srgbClr val="000000"/>
                </a:solidFill>
                <a:latin typeface="Aptos"/>
                <a:cs typeface="Arial"/>
              </a:rPr>
              <a:t>resuelto</a:t>
            </a: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 y no hubo  necesidad de </a:t>
            </a:r>
            <a:r>
              <a:rPr lang="es-MX" sz="1400" b="1">
                <a:solidFill>
                  <a:srgbClr val="000000"/>
                </a:solidFill>
                <a:latin typeface="Aptos"/>
                <a:cs typeface="Arial"/>
              </a:rPr>
              <a:t>escalarlo</a:t>
            </a: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, ya que se soluciona mediante una revisión básica de conectividad y reinicio del dispositivo para evitar el incorrecto direccionamiento </a:t>
            </a:r>
            <a:r>
              <a:rPr lang="es-MX" sz="1400" err="1">
                <a:solidFill>
                  <a:srgbClr val="000000"/>
                </a:solidFill>
                <a:latin typeface="Aptos"/>
                <a:cs typeface="Arial"/>
              </a:rPr>
              <a:t>ip</a:t>
            </a:r>
            <a:r>
              <a:rPr lang="es-MX" sz="1400">
                <a:solidFill>
                  <a:srgbClr val="000000"/>
                </a:solidFill>
                <a:latin typeface="Aptos"/>
                <a:cs typeface="Arial"/>
              </a:rPr>
              <a:t>.</a:t>
            </a:r>
            <a:endParaRPr lang="es-MX" sz="1400">
              <a:latin typeface="Apto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B0604020202020204" pitchFamily="34" charset="0"/>
              <a:buChar char="-"/>
            </a:pPr>
            <a:endParaRPr lang="es-MX" sz="2000">
              <a:solidFill>
                <a:srgbClr val="333333"/>
              </a:solidFill>
              <a:latin typeface="Aptos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Calibri" panose="020B0604020202020204" pitchFamily="34" charset="0"/>
              <a:buChar char="-"/>
            </a:pPr>
            <a:r>
              <a:rPr lang="es-MX" sz="2400" b="1">
                <a:solidFill>
                  <a:srgbClr val="333333"/>
                </a:solidFill>
                <a:latin typeface="Aptos"/>
                <a:cs typeface="Arial"/>
              </a:rPr>
              <a:t>Tiempo de atención (SLA simulado)</a:t>
            </a:r>
            <a:endParaRPr lang="es-MX" sz="2400" b="1">
              <a:solidFill>
                <a:srgbClr val="000000"/>
              </a:solidFill>
              <a:latin typeface="Aptos"/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6A8A05-29FE-1886-B764-9BD72B39B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974050"/>
              </p:ext>
            </p:extLst>
          </p:nvPr>
        </p:nvGraphicFramePr>
        <p:xfrm>
          <a:off x="6085840" y="4815840"/>
          <a:ext cx="5495772" cy="629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73943">
                  <a:extLst>
                    <a:ext uri="{9D8B030D-6E8A-4147-A177-3AD203B41FA5}">
                      <a16:colId xmlns:a16="http://schemas.microsoft.com/office/drawing/2014/main" val="120515254"/>
                    </a:ext>
                  </a:extLst>
                </a:gridCol>
                <a:gridCol w="1373943">
                  <a:extLst>
                    <a:ext uri="{9D8B030D-6E8A-4147-A177-3AD203B41FA5}">
                      <a16:colId xmlns:a16="http://schemas.microsoft.com/office/drawing/2014/main" val="2306661467"/>
                    </a:ext>
                  </a:extLst>
                </a:gridCol>
                <a:gridCol w="1373943">
                  <a:extLst>
                    <a:ext uri="{9D8B030D-6E8A-4147-A177-3AD203B41FA5}">
                      <a16:colId xmlns:a16="http://schemas.microsoft.com/office/drawing/2014/main" val="1337843622"/>
                    </a:ext>
                  </a:extLst>
                </a:gridCol>
                <a:gridCol w="1373943">
                  <a:extLst>
                    <a:ext uri="{9D8B030D-6E8A-4147-A177-3AD203B41FA5}">
                      <a16:colId xmlns:a16="http://schemas.microsoft.com/office/drawing/2014/main" val="3355617180"/>
                    </a:ext>
                  </a:extLst>
                </a:gridCol>
              </a:tblGrid>
              <a:tr h="22058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Impresoras</a:t>
                      </a:r>
                      <a:endParaRPr lang="en-US" err="1">
                        <a:effectLst/>
                        <a:latin typeface="Arial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Impresora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de un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departamento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no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funciona</a:t>
                      </a:r>
                      <a:endParaRPr lang="en-US" err="1">
                        <a:effectLst/>
                        <a:latin typeface="Arial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Media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hrs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y 30 mins</a:t>
                      </a:r>
                      <a:endParaRPr lang="es-ES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643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7815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Panorámica</PresentationFormat>
  <Paragraphs>34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Tema de Office</vt:lpstr>
      <vt:lpstr>Soporte a infraestructura y conectividad (hardware/red)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Javier Zamarron Ramirez</cp:lastModifiedBy>
  <cp:revision>7</cp:revision>
  <dcterms:created xsi:type="dcterms:W3CDTF">2026-08-14T19:36:18Z</dcterms:created>
  <dcterms:modified xsi:type="dcterms:W3CDTF">2026-08-28T22:08:56Z</dcterms:modified>
</cp:coreProperties>
</file>